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 descr="&lt;Slide style={{ width: 1280, height: 720, background: '#FFFFFF', flexDirection: 'row' }}&gt;&#10;  &lt;Box style={{ position: 'absolute', top: 0, left: 0, width: 1280, height: 10, background: '#1E4FA8' }} /&gt;&#10;  &lt;Box style={{ width: 360, height: 720, background: '#0E3F8C', padding: '80px 50px', flexDirection: 'column', gap: 18, justifyContent: 'center' }}&gt;&#10;    &lt;Text style={{ fontSize: 20, color: '#BBD0F0', letterSpacing: 4 }}&gt;答辩人&lt;/Text&gt;&#10;    &lt;Text style={{ fontSize: 68, fontWeight: 'bold', color: '#FFFFFF' }}&gt;刘文强&lt;/Text&gt;&#10;    &lt;Box style={{ width: 90, height: 4, background: '#FFFFFF', opacity: 0.6 }} /&gt;&#10;    &lt;Text style={{ fontSize: 26, fontWeight: 'bold', color: '#FFFFFF', lineHeight: 1.5 }}&gt;规则引擎&lt;br /&gt;＋ 缓存模块&lt;/Text&gt;&#10;    &lt;Text style={{ fontSize: 18, color: '#D8E4F7', lineHeight: 1.7 }}&gt;门卫的&quot;判断力&quot;：什么能过、什么必须拦下，规则说了算。&lt;/Text&gt;&#10;  &lt;/Box&gt;&#10;  &lt;Box style={{ flex: 1, padding: '80px 64px', flexDirection: 'column', gap: 24, justifyContent: 'center' }}&gt;&#10;    {[&#10;      { i: 'folder', t: '负责代码模块', d: 'internal/policy/（端口/域名/IP 黑名单与过滤规则）与 internal/cache/（静态资源本地磁盘缓存，额外任务）' },&#10;      { i: 'wrench', t: '具体做了什么', d: '实现域名通配（*.example.com）、IP 网段（CIDR）、端口三类黑名单匹配；实现拦截页返回；实现按扩展名白名单 + TTL 的缓存读写、命中计数与单元测试' },&#10;      { i: 'check-circle', t: '对应任务书需求', d: '黑白名单与精准拦截（主线任务）、高频静态资源本地缓存（额外任务）' },&#10;    ].map((r) =&gt; (&#10;      &lt;Box key={r.t} style={{ flexDirection: 'row', gap: 20, background: '#F7F9FC', border: '1px solid #D6DCE5', borderRadius: 12, padding: '22px 26px', alignItems: 'flex-start' }}&gt;&#10;        &lt;Box style={{ width: 56, height: 56, borderRadius: 12, background: '#E8EFF8', justifyContent: 'center', alignItems: 'center' }}&gt;&#10;          &lt;FAIcon name={r.i} style={{ fill: '#1E4FA8', width: 28, height: 28 }} /&gt;&#10;        &lt;/Box&gt;&#10;        &lt;Box style={{ flexDirection: 'column', gap: 8, flex: 1 }}&gt;&#10;          &lt;Text style={{ fontSize: 23, fontWeight: 'bold', color: '#0E3F8C' }}&gt;{r.t}&lt;/Text&gt;&#10;          &lt;Text style={{ fontSize: 18, color: '#4A5568', lineHeight: 1.6 }}&gt;{r.d}&lt;/Text&gt;&#10;        &lt;/Box&gt;&#10;      &lt;/Box&gt;&#10;    ))}&#10;    &lt;Text style={{ fontSize: 17, color: '#8B97A8' }}&gt;接下来现场演示：黑名单拦截 403 与缓存命中计数 ▶&lt;/Text&gt;&#10;  &lt;/Box&gt;&#10;  &lt;Box style={{ position: 'absolute', bottom: 0, left: 0, width: 1280, height: 56, background: '#FFFFFF', flexDirection: 'row', justifyContent: 'space-between', alignItems: 'center', padding: '0 60px', borderTop: '1px solid #E5E7EB' }}&gt;&#10;    &lt;Text style={{ fontSize: 14, color: '#8B97A8' }}&gt;具备流量审计的企业代理服务器 · 第X组&lt;/Text&gt;&#10;    &lt;Text style={{ fontSize: 16, color: '#1E4FA8' }}&gt;11 / 19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9" name="矩形 38"/>
          <p:cNvSpPr/>
          <p:nvPr/>
        </p:nvSpPr>
        <p:spPr>
          <a:xfrm>
            <a:off x="0" y="0"/>
            <a:ext cx="3429000" cy="68580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40" name="文本框 39" descr="{&quot;isTemplate&quot;:true,&quot;type&quot;:&quot;text&quot;}"/>
          <p:cNvSpPr txBox="1"/>
          <p:nvPr/>
        </p:nvSpPr>
        <p:spPr>
          <a:xfrm>
            <a:off x="476250" y="1762125"/>
            <a:ext cx="24765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spc="300">
                <a:solidFill>
                  <a:srgbClr val="BBD0F0"/>
                </a:solidFill>
                <a:latin typeface="微软雅黑" panose="020B0503020204020204" charset="-122"/>
                <a:ea typeface="微软雅黑" panose="020B0503020204020204" charset="-122"/>
              </a:rPr>
              <a:t>答辩人</a:t>
            </a:r>
            <a:endParaRPr lang="zh-CN" sz="1500" spc="300">
              <a:solidFill>
                <a:srgbClr val="BBD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框 40" descr="{&quot;isTemplate&quot;:true,&quot;type&quot;:&quot;text&quot;}"/>
          <p:cNvSpPr txBox="1"/>
          <p:nvPr/>
        </p:nvSpPr>
        <p:spPr>
          <a:xfrm>
            <a:off x="476250" y="2162175"/>
            <a:ext cx="2476500" cy="7810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5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刘文强</a:t>
            </a:r>
            <a:endParaRPr lang="zh-CN" sz="5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 descr="{&quot;isTemplate&quot;:true,&quot;type&quot;:&quot;text&quot;}"/>
          <p:cNvSpPr txBox="1"/>
          <p:nvPr/>
        </p:nvSpPr>
        <p:spPr>
          <a:xfrm>
            <a:off x="476250" y="3324225"/>
            <a:ext cx="2476500" cy="895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规则引擎</a:t>
            </a:r>
            <a:endParaRPr lang="zh-CN" sz="1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＋</a:t>
            </a:r>
            <a:r>
              <a:rPr lang="en-US"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缓存模块</a:t>
            </a:r>
            <a:endParaRPr lang="zh-CN" sz="1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 descr="{&quot;isTemplate&quot;:true,&quot;type&quot;:&quot;text&quot;}"/>
          <p:cNvSpPr txBox="1"/>
          <p:nvPr/>
        </p:nvSpPr>
        <p:spPr>
          <a:xfrm>
            <a:off x="476250" y="4391025"/>
            <a:ext cx="2476500" cy="7048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D8E4F7"/>
                </a:solidFill>
                <a:latin typeface="微软雅黑" panose="020B0503020204020204" charset="-122"/>
                <a:ea typeface="微软雅黑" panose="020B0503020204020204" charset="-122"/>
              </a:rPr>
              <a:t>门卫的</a:t>
            </a:r>
            <a:r>
              <a:rPr lang="en-US" sz="1350">
                <a:solidFill>
                  <a:srgbClr val="D8E4F7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350">
                <a:solidFill>
                  <a:srgbClr val="D8E4F7"/>
                </a:solidFill>
                <a:latin typeface="微软雅黑" panose="020B0503020204020204" charset="-122"/>
                <a:ea typeface="微软雅黑" panose="020B0503020204020204" charset="-122"/>
              </a:rPr>
              <a:t>判断力</a:t>
            </a:r>
            <a:r>
              <a:rPr lang="en-US" sz="1350">
                <a:solidFill>
                  <a:srgbClr val="D8E4F7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350">
                <a:solidFill>
                  <a:srgbClr val="D8E4F7"/>
                </a:solidFill>
                <a:latin typeface="微软雅黑" panose="020B0503020204020204" charset="-122"/>
                <a:ea typeface="微软雅黑" panose="020B0503020204020204" charset="-122"/>
              </a:rPr>
              <a:t>：什么能过、什么必须拦下，规则说了算。</a:t>
            </a:r>
            <a:endParaRPr lang="zh-CN" sz="1350">
              <a:solidFill>
                <a:srgbClr val="D8E4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圆角矩形 43"/>
          <p:cNvSpPr/>
          <p:nvPr/>
        </p:nvSpPr>
        <p:spPr>
          <a:xfrm>
            <a:off x="4038600" y="1009650"/>
            <a:ext cx="7543800" cy="142875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5" name="圆角矩形 44"/>
          <p:cNvSpPr/>
          <p:nvPr/>
        </p:nvSpPr>
        <p:spPr>
          <a:xfrm>
            <a:off x="4286250" y="1219200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E8EFF8"/>
          </a:solidFill>
        </p:spPr>
        <p:txBody>
          <a:bodyPr/>
          <a:p/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19600" y="1352550"/>
            <a:ext cx="266700" cy="266700"/>
          </a:xfrm>
          <a:prstGeom prst="rect">
            <a:avLst/>
          </a:prstGeom>
        </p:spPr>
      </p:pic>
      <p:sp>
        <p:nvSpPr>
          <p:cNvPr id="47" name="文本框 46" descr="{&quot;isTemplate&quot;:true,&quot;type&quot;:&quot;text&quot;}"/>
          <p:cNvSpPr txBox="1"/>
          <p:nvPr/>
        </p:nvSpPr>
        <p:spPr>
          <a:xfrm>
            <a:off x="5010150" y="1219200"/>
            <a:ext cx="63246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负责代码模块</a:t>
            </a:r>
            <a:endParaRPr lang="zh-CN" sz="172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文本框 47" descr="{&quot;isTemplate&quot;:true,&quot;type&quot;:&quot;text&quot;}"/>
          <p:cNvSpPr txBox="1"/>
          <p:nvPr/>
        </p:nvSpPr>
        <p:spPr>
          <a:xfrm>
            <a:off x="5010150" y="1562100"/>
            <a:ext cx="6324600" cy="666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internal/policy/</a:t>
            </a: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（端口</a:t>
            </a:r>
            <a:r>
              <a:rPr lang="en-US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域名</a:t>
            </a:r>
            <a:r>
              <a:rPr lang="en-US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/IP </a:t>
            </a: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黑名单与过滤规则）与</a:t>
            </a:r>
            <a:r>
              <a:rPr lang="en-US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internal/cache/</a:t>
            </a: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（静态资源本地磁盘缓存，额外任务）</a:t>
            </a:r>
            <a:endParaRPr lang="zh-CN" sz="13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圆角矩形 48"/>
          <p:cNvSpPr/>
          <p:nvPr/>
        </p:nvSpPr>
        <p:spPr>
          <a:xfrm>
            <a:off x="4038600" y="2667000"/>
            <a:ext cx="7543800" cy="142875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0" name="圆角矩形 49"/>
          <p:cNvSpPr/>
          <p:nvPr/>
        </p:nvSpPr>
        <p:spPr>
          <a:xfrm>
            <a:off x="4286250" y="2876550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E8EFF8"/>
          </a:solidFill>
        </p:spPr>
        <p:txBody>
          <a:bodyPr/>
          <a:p/>
        </p:txBody>
      </p:sp>
      <p:pic>
        <p:nvPicPr>
          <p:cNvPr id="51" name="图片 5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19600" y="3009900"/>
            <a:ext cx="266700" cy="266700"/>
          </a:xfrm>
          <a:prstGeom prst="rect">
            <a:avLst/>
          </a:prstGeom>
        </p:spPr>
      </p:pic>
      <p:sp>
        <p:nvSpPr>
          <p:cNvPr id="52" name="文本框 51" descr="{&quot;isTemplate&quot;:true,&quot;type&quot;:&quot;text&quot;}"/>
          <p:cNvSpPr txBox="1"/>
          <p:nvPr/>
        </p:nvSpPr>
        <p:spPr>
          <a:xfrm>
            <a:off x="5010150" y="2876550"/>
            <a:ext cx="63246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具体做了什么</a:t>
            </a:r>
            <a:endParaRPr lang="zh-CN" sz="172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文本框 52" descr="{&quot;isTemplate&quot;:true,&quot;type&quot;:&quot;text&quot;}"/>
          <p:cNvSpPr txBox="1"/>
          <p:nvPr/>
        </p:nvSpPr>
        <p:spPr>
          <a:xfrm>
            <a:off x="5010150" y="3219450"/>
            <a:ext cx="6324600" cy="666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实现域名通配（</a:t>
            </a:r>
            <a:r>
              <a:rPr lang="en-US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*.example.com</a:t>
            </a: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）、</a:t>
            </a:r>
            <a:r>
              <a:rPr lang="en-US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IP </a:t>
            </a: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网段（</a:t>
            </a:r>
            <a:r>
              <a:rPr lang="en-US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CIDR</a:t>
            </a: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）、端口三类黑名单匹配；实现拦截页返回；实现按扩展名白名单</a:t>
            </a:r>
            <a:r>
              <a:rPr lang="en-US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+ TTL </a:t>
            </a: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的缓存读写、命中计数与单元测试</a:t>
            </a:r>
            <a:endParaRPr lang="zh-CN" sz="13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圆角矩形 53"/>
          <p:cNvSpPr/>
          <p:nvPr/>
        </p:nvSpPr>
        <p:spPr>
          <a:xfrm>
            <a:off x="4038600" y="4324350"/>
            <a:ext cx="7543800" cy="1095375"/>
          </a:xfrm>
          <a:prstGeom prst="roundRect">
            <a:avLst>
              <a:gd name="adj" fmla="val 10435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5" name="圆角矩形 54"/>
          <p:cNvSpPr/>
          <p:nvPr/>
        </p:nvSpPr>
        <p:spPr>
          <a:xfrm>
            <a:off x="4286250" y="4533900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E8EFF8"/>
          </a:solidFill>
        </p:spPr>
        <p:txBody>
          <a:bodyPr/>
          <a:p/>
        </p:txBody>
      </p:sp>
      <p:pic>
        <p:nvPicPr>
          <p:cNvPr id="56" name="图片 55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19600" y="4667250"/>
            <a:ext cx="266700" cy="266700"/>
          </a:xfrm>
          <a:prstGeom prst="rect">
            <a:avLst/>
          </a:prstGeom>
        </p:spPr>
      </p:pic>
      <p:sp>
        <p:nvSpPr>
          <p:cNvPr id="57" name="文本框 56" descr="{&quot;isTemplate&quot;:true,&quot;type&quot;:&quot;text&quot;}"/>
          <p:cNvSpPr txBox="1"/>
          <p:nvPr/>
        </p:nvSpPr>
        <p:spPr>
          <a:xfrm>
            <a:off x="5010150" y="4533900"/>
            <a:ext cx="63246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对应任务书需求</a:t>
            </a:r>
            <a:endParaRPr lang="zh-CN" sz="172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文本框 57" descr="{&quot;isTemplate&quot;:true,&quot;type&quot;:&quot;text&quot;}"/>
          <p:cNvSpPr txBox="1"/>
          <p:nvPr/>
        </p:nvSpPr>
        <p:spPr>
          <a:xfrm>
            <a:off x="5010150" y="4876800"/>
            <a:ext cx="63246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黑白名单与精准拦截（主线任务）、高频静态资源本地缓存（额外任务）</a:t>
            </a:r>
            <a:endParaRPr lang="zh-CN" sz="13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文本框 58" descr="{&quot;isTemplate&quot;:true,&quot;type&quot;:&quot;text&quot;}"/>
          <p:cNvSpPr txBox="1"/>
          <p:nvPr/>
        </p:nvSpPr>
        <p:spPr>
          <a:xfrm>
            <a:off x="4038600" y="5648325"/>
            <a:ext cx="75438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接下来现场演示：黑名单拦截</a:t>
            </a:r>
            <a:r>
              <a:rPr lang="en-US" sz="12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403 </a:t>
            </a:r>
            <a:r>
              <a:rPr lang="zh-CN" sz="12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与缓存命中计数</a:t>
            </a:r>
            <a:r>
              <a:rPr lang="en-US" sz="12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▶</a:t>
            </a:r>
            <a:endParaRPr lang="en-US" sz="127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61" name="矩形 60"/>
          <p:cNvSpPr/>
          <p:nvPr/>
        </p:nvSpPr>
        <p:spPr>
          <a:xfrm>
            <a:off x="476250" y="3114675"/>
            <a:ext cx="857250" cy="38100"/>
          </a:xfrm>
          <a:prstGeom prst="rect">
            <a:avLst/>
          </a:prstGeom>
          <a:solidFill>
            <a:srgbClr val="FFFFFF">
              <a:alpha val="60000"/>
            </a:srgbClr>
          </a:solidFill>
        </p:spPr>
        <p:txBody>
          <a:bodyPr/>
          <a:p/>
        </p:txBody>
      </p:sp>
      <p:sp>
        <p:nvSpPr>
          <p:cNvPr id="62" name="矩形 61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63" name="任意多边形 62"/>
          <p:cNvSpPr/>
          <p:nvPr/>
        </p:nvSpPr>
        <p:spPr>
          <a:xfrm>
            <a:off x="0" y="6324600"/>
            <a:ext cx="12192000" cy="533400"/>
          </a:xfrm>
          <a:custGeom>
            <a:avLst/>
            <a:gdLst/>
            <a:ahLst/>
            <a:cxnLst/>
            <a:pathLst>
              <a:path w="1280" h="56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</p:spPr>
        <p:txBody>
          <a:bodyPr/>
          <a:p/>
        </p:txBody>
      </p:sp>
      <p:sp>
        <p:nvSpPr>
          <p:cNvPr id="64" name="文本框 63" descr="{&quot;isTemplate&quot;:true,&quot;type&quot;:&quot;text&quot;}"/>
          <p:cNvSpPr txBox="1"/>
          <p:nvPr/>
        </p:nvSpPr>
        <p:spPr>
          <a:xfrm>
            <a:off x="571500" y="6515100"/>
            <a:ext cx="23336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具备流量审计的企业代理服务器</a:t>
            </a: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X</a:t>
            </a: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组</a:t>
            </a:r>
            <a:endParaRPr lang="zh-CN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文本框 64" descr="{&quot;isTemplate&quot;:true,&quot;type&quot;:&quot;text&quot;}"/>
          <p:cNvSpPr txBox="1"/>
          <p:nvPr/>
        </p:nvSpPr>
        <p:spPr>
          <a:xfrm>
            <a:off x="11106150" y="6505575"/>
            <a:ext cx="5143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11 / 19</a:t>
            </a:r>
            <a:endParaRPr lang="en-US" sz="120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6" name="" descr="&lt;Slide style={{ width: 1280, height: 720, background: '#FFFFFF', padding: '0 60px' }}&gt;&#13;&#10;  &lt;Box style={{ position: 'absolute', top: 0, left: 0, width: 1280, height: 10, background: '#1E4FA8' }} /&gt;&#13;&#10;  &lt;Box style={{ paddingTop: 38, paddingBottom: 16, flexDirection: 'row', justifyContent: 'space-between', alignItems: 'center' }}&gt;&#13;&#10;    &lt;Text style={{ fontSize: 34, fontWeight: 'bold', color: '#0E3F8C' }}&gt;刘文强 · 规则引擎与缓存：精准拦截，顺手加速&lt;/Text&gt;&#13;&#10;    &lt;Text style={{ fontSize: 16, color: '#8B97A8' }}&gt;03 成员实现与功能展示&lt;/Text&gt;&#13;&#10;  &lt;/Box&gt;&#13;&#10;  &lt;Box style={{ flexDirection: 'row', gap: 26, height: 480 }}&gt;&#13;&#10;    &lt;Box style={{ width: 660, background: '#F7F9FC', border: '2px dashed #3D7BD9', borderRadius: 14, justifyContent: 'center', alignItems: 'center', flexDirection: 'column', gap: 16, padding: 30 }}&gt;&#13;&#10;      &lt;FAIcon name='image' style={{ fill: '#3D7BD9', width: 60, height: 60, opacity: 0.6 }} /&gt;&#13;&#10;      &lt;Text style={{ fontSize: 20, fontWeight: 'bold', color: '#1E4FA8', textAlign: 'center' }}&gt;此处插入演示截图（两张拼图）&lt;/Text&gt;&#13;&#10;      &lt;Text style={{ fontSize: 17, color: '#4A5568', textAlign: 'center', lineHeight: 1.7 }}&gt;左：访问黑名单域名 example.com 返回 403 拦截页&lt;br /&gt;右：缓存面板同一图片第二次访问命中次数 0 → 1&lt;/Text&gt;&#13;&#10;    &lt;/Box&gt;&#13;&#10;    &lt;Box style={{ flex: 1, flexDirection: 'column', gap: 16 }}&gt;&#13;&#10;      &lt;Text style={{ fontSize: 24, fontWeight: 'bold', color: '#1A2230' }}&gt;关键实现&lt;/Text&gt;&#13;&#10;      {[&#13;&#10;        ['两类规则', '黑名单粗筛（端口 25/445/3389、域名通配、IP 网段）+ ACL 精控（用户/角色/源IP/域名/端口/方法六维组合）'],&#13;&#10;        ['命中即拦', '命中任意规则直接返回可配置的 403 拦截页，流量页同步标记&quot;已拦截&quot;'],&#13;&#10;        ['缓存计数', '第二次请求同一静态资源直接回本地缓存，命中次数与命中率在管理端实时可见'],&#13;&#10;      ].map(([k, v]) =&gt; (&#13;&#10;        &lt;Box key={k} style={{ background: '#F0F5FC', borderRadius: 10, padding: '14px 18px', flexDirection: 'column', gap: 4 }}&gt;&#13;&#10;          &lt;Text style={{ fontSize: 19, fontWeight: 'bold', color: '#0E3F8C' }}&gt;{k}&lt;/Text&gt;&#13;&#10;          &lt;Text style={{ fontSize: 16, color: '#4A5568', lineHeight: 1.55 }}&gt;{v}&lt;/Text&gt;&#13;&#10;        &lt;/Box&gt;&#13;&#10;      ))}&#13;&#10;      &lt;Box style={{ background: '#0E3F8C', borderRadius: 10, padding: '12px 18px' }}&gt;&#13;&#10;        &lt;Text style={{ fontSize: 17, color: '#FFFFFF', lineHeight: 1.5 }}&gt;演示路径：黑名单面板加域名 → 访问被 403 → 访问图片两次看命中次数 0→1&lt;/Text&gt;&#13;&#10;      &lt;/Box&gt;&#13;&#10;    &lt;/Box&gt;&#13;&#10;  &lt;/Box&gt;&#13;&#10;  &lt;Box style={{ position: 'absolute', bottom: 0, left: 0, width: 1280, height: 56, background: '#FFFFFF', flexDirection: 'row', justifyContent: 'space-between', alignItems: 'center', padding: '0 60px', borderTop: '1px solid #E5E7EB' }}&gt;&#13;&#10;    &lt;Text style={{ fontSize: 14, color: '#8B97A8' }}&gt;具备流量审计的企业代理服务器 · 第X组&lt;/Text&gt;&#13;&#10;    &lt;Text style={{ fontSize: 16, color: '#1E4FA8' }}&gt;12 / 19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矩形 6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68" name="文本框 67" descr="{&quot;isTemplate&quot;:true,&quot;type&quot;:&quot;text&quot;}"/>
          <p:cNvSpPr txBox="1"/>
          <p:nvPr/>
        </p:nvSpPr>
        <p:spPr>
          <a:xfrm>
            <a:off x="571500" y="361950"/>
            <a:ext cx="681990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刘文强</a:t>
            </a:r>
            <a:r>
              <a:rPr lang="en-US" sz="25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25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规则引擎与缓存：精准拦截，顺手加速</a:t>
            </a:r>
            <a:endParaRPr lang="zh-CN" sz="25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文本框 68" descr="{&quot;isTemplate&quot;:true,&quot;type&quot;:&quot;text&quot;}"/>
          <p:cNvSpPr txBox="1"/>
          <p:nvPr/>
        </p:nvSpPr>
        <p:spPr>
          <a:xfrm>
            <a:off x="10020300" y="466725"/>
            <a:ext cx="16002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03 </a:t>
            </a:r>
            <a:r>
              <a:rPr lang="zh-CN" sz="12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成员实现与功能展示</a:t>
            </a:r>
            <a:endParaRPr lang="zh-CN" sz="120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圆角矩形 69"/>
          <p:cNvSpPr/>
          <p:nvPr/>
        </p:nvSpPr>
        <p:spPr>
          <a:xfrm>
            <a:off x="571500" y="904875"/>
            <a:ext cx="6286500" cy="4572000"/>
          </a:xfrm>
          <a:prstGeom prst="roundRect">
            <a:avLst>
              <a:gd name="adj" fmla="val 2917"/>
            </a:avLst>
          </a:prstGeom>
          <a:solidFill>
            <a:srgbClr val="F7F9FC"/>
          </a:solidFill>
          <a:ln w="25400">
            <a:solidFill>
              <a:srgbClr val="3D7BD9"/>
            </a:solidFill>
            <a:prstDash val="dash"/>
          </a:ln>
        </p:spPr>
        <p:txBody>
          <a:bodyPr/>
          <a:p/>
        </p:txBody>
      </p:sp>
      <p:sp>
        <p:nvSpPr>
          <p:cNvPr id="71" name="文本框 70" descr="{&quot;isTemplate&quot;:true,&quot;type&quot;:&quot;text&quot;}"/>
          <p:cNvSpPr txBox="1"/>
          <p:nvPr/>
        </p:nvSpPr>
        <p:spPr>
          <a:xfrm>
            <a:off x="2381250" y="3028950"/>
            <a:ext cx="2667000" cy="22860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5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此处插入演示截图（两张拼图）</a:t>
            </a:r>
            <a:endParaRPr lang="zh-CN" sz="150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文本框 71" descr="{&quot;isTemplate&quot;:true,&quot;type&quot;:&quot;text&quot;}"/>
          <p:cNvSpPr txBox="1"/>
          <p:nvPr/>
        </p:nvSpPr>
        <p:spPr>
          <a:xfrm>
            <a:off x="1828800" y="3409950"/>
            <a:ext cx="3781425" cy="6667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70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左：访问黑名单域名</a:t>
            </a:r>
            <a:r>
              <a:rPr 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example.com </a:t>
            </a: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返回</a:t>
            </a:r>
            <a:r>
              <a:rPr 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403 </a:t>
            </a: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拦截页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70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右：缓存面板同一图片第二次访问命中次数</a:t>
            </a:r>
            <a:r>
              <a:rPr 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0 → 1</a:t>
            </a:r>
            <a:endParaRPr lang="en-US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文本框 72" descr="{&quot;isTemplate&quot;:true,&quot;type&quot;:&quot;text&quot;}"/>
          <p:cNvSpPr txBox="1"/>
          <p:nvPr/>
        </p:nvSpPr>
        <p:spPr>
          <a:xfrm>
            <a:off x="7105650" y="904875"/>
            <a:ext cx="45148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关键实现</a:t>
            </a:r>
            <a:endParaRPr lang="zh-CN" sz="180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圆角矩形 73"/>
          <p:cNvSpPr/>
          <p:nvPr/>
        </p:nvSpPr>
        <p:spPr>
          <a:xfrm>
            <a:off x="7105650" y="1333500"/>
            <a:ext cx="4514850" cy="1095375"/>
          </a:xfrm>
          <a:prstGeom prst="roundRect">
            <a:avLst>
              <a:gd name="adj" fmla="val 8696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75" name="文本框 74" descr="{&quot;isTemplate&quot;:true,&quot;type&quot;:&quot;text&quot;}"/>
          <p:cNvSpPr txBox="1"/>
          <p:nvPr/>
        </p:nvSpPr>
        <p:spPr>
          <a:xfrm>
            <a:off x="7277100" y="1466850"/>
            <a:ext cx="41719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两类规则</a:t>
            </a:r>
            <a:endParaRPr lang="zh-CN" sz="142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文本框 75" descr="{&quot;isTemplate&quot;:true,&quot;type&quot;:&quot;text&quot;}"/>
          <p:cNvSpPr txBox="1"/>
          <p:nvPr/>
        </p:nvSpPr>
        <p:spPr>
          <a:xfrm>
            <a:off x="7277100" y="1724025"/>
            <a:ext cx="4171950" cy="571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黑名单粗筛（端口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25/445/3389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、域名通配、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IP 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网段）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+ ACL 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精控（用户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角色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源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IP/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域名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端口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方法六维组合）</a:t>
            </a:r>
            <a:endParaRPr lang="zh-CN" sz="12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7105650" y="2581275"/>
            <a:ext cx="4514850" cy="1095375"/>
          </a:xfrm>
          <a:prstGeom prst="roundRect">
            <a:avLst>
              <a:gd name="adj" fmla="val 8696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78" name="文本框 77" descr="{&quot;isTemplate&quot;:true,&quot;type&quot;:&quot;text&quot;}"/>
          <p:cNvSpPr txBox="1"/>
          <p:nvPr/>
        </p:nvSpPr>
        <p:spPr>
          <a:xfrm>
            <a:off x="7277100" y="2714625"/>
            <a:ext cx="41719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命中即拦</a:t>
            </a:r>
            <a:endParaRPr lang="zh-CN" sz="142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文本框 78" descr="{&quot;isTemplate&quot;:true,&quot;type&quot;:&quot;text&quot;}"/>
          <p:cNvSpPr txBox="1"/>
          <p:nvPr/>
        </p:nvSpPr>
        <p:spPr>
          <a:xfrm>
            <a:off x="7277100" y="2971800"/>
            <a:ext cx="4171950" cy="571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命中任意规则直接返回可配置的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403 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拦截页，流量页同步标记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已拦截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endParaRPr lang="en-US" sz="12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圆角矩形 79"/>
          <p:cNvSpPr/>
          <p:nvPr/>
        </p:nvSpPr>
        <p:spPr>
          <a:xfrm>
            <a:off x="7105650" y="3829050"/>
            <a:ext cx="4514850" cy="1095375"/>
          </a:xfrm>
          <a:prstGeom prst="roundRect">
            <a:avLst>
              <a:gd name="adj" fmla="val 8696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81" name="文本框 80" descr="{&quot;isTemplate&quot;:true,&quot;type&quot;:&quot;text&quot;}"/>
          <p:cNvSpPr txBox="1"/>
          <p:nvPr/>
        </p:nvSpPr>
        <p:spPr>
          <a:xfrm>
            <a:off x="7277100" y="3962400"/>
            <a:ext cx="41719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缓存计数</a:t>
            </a:r>
            <a:endParaRPr lang="zh-CN" sz="1425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文本框 81" descr="{&quot;isTemplate&quot;:true,&quot;type&quot;:&quot;text&quot;}"/>
          <p:cNvSpPr txBox="1"/>
          <p:nvPr/>
        </p:nvSpPr>
        <p:spPr>
          <a:xfrm>
            <a:off x="7277100" y="4219575"/>
            <a:ext cx="4171950" cy="571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第二次请求同一静态资源直接回本地缓存，命中次数与命中率在管理端实时可见</a:t>
            </a:r>
            <a:endParaRPr lang="zh-CN" sz="12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圆角矩形 82"/>
          <p:cNvSpPr/>
          <p:nvPr/>
        </p:nvSpPr>
        <p:spPr>
          <a:xfrm>
            <a:off x="7105650" y="5076825"/>
            <a:ext cx="4514850" cy="819150"/>
          </a:xfrm>
          <a:prstGeom prst="roundRect">
            <a:avLst>
              <a:gd name="adj" fmla="val 11628"/>
            </a:avLst>
          </a:prstGeom>
          <a:solidFill>
            <a:srgbClr val="0E3F8C"/>
          </a:solidFill>
        </p:spPr>
        <p:txBody>
          <a:bodyPr/>
          <a:p/>
        </p:txBody>
      </p:sp>
      <p:sp>
        <p:nvSpPr>
          <p:cNvPr id="84" name="文本框 83" descr="{&quot;isTemplate&quot;:true,&quot;type&quot;:&quot;text&quot;}"/>
          <p:cNvSpPr txBox="1"/>
          <p:nvPr/>
        </p:nvSpPr>
        <p:spPr>
          <a:xfrm>
            <a:off x="7277100" y="5191125"/>
            <a:ext cx="417195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演示路径：黑名单面板加域名</a:t>
            </a:r>
            <a:r>
              <a:rPr lang="en-US" sz="12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2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访问被</a:t>
            </a:r>
            <a:r>
              <a:rPr lang="en-US" sz="12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403 → </a:t>
            </a:r>
            <a:r>
              <a:rPr lang="zh-CN" sz="12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访问图片两次看命中次数</a:t>
            </a:r>
            <a:r>
              <a:rPr lang="en-US" sz="12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0→1</a:t>
            </a:r>
            <a:endParaRPr lang="en-US" sz="127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pic>
        <p:nvPicPr>
          <p:cNvPr id="86" name="图片 85"/>
          <p:cNvPicPr>
            <a:picLocks noChangeAspect="1"/>
          </p:cNvPicPr>
          <p:nvPr/>
        </p:nvPicPr>
        <p:blipFill>
          <a:blip r:embed="rId1">
            <a:alphaModFix amt="6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29000" y="2305050"/>
            <a:ext cx="571500" cy="571500"/>
          </a:xfrm>
          <a:prstGeom prst="rect">
            <a:avLst/>
          </a:prstGeom>
        </p:spPr>
      </p:pic>
      <p:sp>
        <p:nvSpPr>
          <p:cNvPr id="87" name="矩形 86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88" name="任意多边形 87"/>
          <p:cNvSpPr/>
          <p:nvPr/>
        </p:nvSpPr>
        <p:spPr>
          <a:xfrm>
            <a:off x="0" y="6324600"/>
            <a:ext cx="12192000" cy="533400"/>
          </a:xfrm>
          <a:custGeom>
            <a:avLst/>
            <a:gdLst/>
            <a:ahLst/>
            <a:cxnLst/>
            <a:pathLst>
              <a:path w="1280" h="56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</p:spPr>
        <p:txBody>
          <a:bodyPr/>
          <a:p/>
        </p:txBody>
      </p:sp>
      <p:sp>
        <p:nvSpPr>
          <p:cNvPr id="89" name="文本框 88" descr="{&quot;isTemplate&quot;:true,&quot;type&quot;:&quot;text&quot;}"/>
          <p:cNvSpPr txBox="1"/>
          <p:nvPr/>
        </p:nvSpPr>
        <p:spPr>
          <a:xfrm>
            <a:off x="571500" y="6515100"/>
            <a:ext cx="23336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具备流量审计的企业代理服务器</a:t>
            </a: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X</a:t>
            </a: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组</a:t>
            </a:r>
            <a:endParaRPr lang="zh-CN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" name="文本框 89" descr="{&quot;isTemplate&quot;:true,&quot;type&quot;:&quot;text&quot;}"/>
          <p:cNvSpPr txBox="1"/>
          <p:nvPr/>
        </p:nvSpPr>
        <p:spPr>
          <a:xfrm>
            <a:off x="11106150" y="6505575"/>
            <a:ext cx="5143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12 / 19</a:t>
            </a:r>
            <a:endParaRPr lang="en-US" sz="120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624</Words>
  <Application>WPS 演示</Application>
  <PresentationFormat>宽屏</PresentationFormat>
  <Paragraphs>56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宋体</vt:lpstr>
      <vt:lpstr>Wingdings</vt:lpstr>
      <vt:lpstr>Arial Unicode MS</vt:lpstr>
      <vt:lpstr>Calibri</vt:lpstr>
      <vt:lpstr>微软雅黑</vt:lpstr>
      <vt:lpstr>-apple-system</vt:lpstr>
      <vt:lpstr>Arial</vt:lpstr>
      <vt:lpstr>Segoe Print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30946</dc:creator>
  <cp:lastModifiedBy>.</cp:lastModifiedBy>
  <cp:revision>5</cp:revision>
  <dcterms:created xsi:type="dcterms:W3CDTF">2023-08-09T12:44:00Z</dcterms:created>
  <dcterms:modified xsi:type="dcterms:W3CDTF">2026-09-18T11:29:19Z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664FD7CA5B9D45EA9D646C25034C4AD5_12</vt:lpwstr>
  </property>
</Properties>
</file>